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0C1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914400" y="914400"/>
            <a:ext cx="10362895" cy="5029200"/>
          </a:xfrm>
          <a:prstGeom prst="roundRect">
            <a:avLst/>
          </a:prstGeom>
          <a:solidFill>
            <a:srgbClr val="1C1432"/>
          </a:solidFill>
          <a:ln w="25400">
            <a:solidFill>
              <a:srgbClr val="A855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1463040" y="1463040"/>
            <a:ext cx="4206240" cy="438912"/>
          </a:xfrm>
          <a:prstGeom prst="roundRect">
            <a:avLst/>
          </a:prstGeom>
          <a:solidFill>
            <a:srgbClr val="371E5F"/>
          </a:solidFill>
          <a:ln>
            <a:solidFill>
              <a:srgbClr val="D8B4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D8B4FE"/>
                </a:solidFill>
              </a:defRPr>
            </a:pPr>
            <a:r>
              <a:t>🦊 SHADOWFOX INTERNSHIP — BEGINNER TASK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463040" y="2103120"/>
            <a:ext cx="923544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800" b="1">
                <a:solidFill>
                  <a:srgbClr val="FFFFFF"/>
                </a:solidFill>
              </a:defRPr>
            </a:pPr>
            <a:r>
              <a:t>Personal Portfolio Website Project</a:t>
            </a:r>
          </a:p>
          <a:p>
            <a:br/>
            <a:pPr>
              <a:defRPr sz="1700" b="1">
                <a:solidFill>
                  <a:srgbClr val="38BDF8"/>
                </a:solidFill>
              </a:defRPr>
            </a:pPr>
            <a:r>
              <a:t>Frontend Architecture, UI/UX Design, Responsiveness &amp; Code Structure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463040" y="4663440"/>
            <a:ext cx="923544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 b="1">
                <a:solidFill>
                  <a:srgbClr val="FACC15"/>
                </a:solidFill>
              </a:defRPr>
            </a:pPr>
            <a:r>
              <a:t>DEVELOPER: HARSHITA BHATIA  ·  B.TECH AI &amp; DATA SCIENCE  ·  CTAE UDAIPUR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0C1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0584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D8B4FE"/>
                </a:solidFill>
                <a:latin typeface="Arial"/>
              </a:defRPr>
            </a:pPr>
            <a:r>
              <a:t>TASK EVALUATION 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85800"/>
            <a:ext cx="10515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FFFFFF"/>
                </a:solidFill>
                <a:latin typeface="Arial"/>
              </a:defRPr>
            </a:pPr>
            <a:r>
              <a:t>ShadowFox Task Mandate &amp; Core Objectives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645920"/>
            <a:ext cx="5120640" cy="4389120"/>
          </a:xfrm>
          <a:prstGeom prst="roundRect">
            <a:avLst/>
          </a:prstGeom>
          <a:solidFill>
            <a:srgbClr val="1C1432"/>
          </a:solidFill>
          <a:ln w="19050">
            <a:solidFill>
              <a:srgbClr val="A855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900" b="1">
                <a:solidFill>
                  <a:srgbClr val="FACC15"/>
                </a:solidFill>
              </a:defRPr>
            </a:pPr>
            <a:r>
              <a:t>🎯 Task Requirements</a:t>
            </a:r>
          </a:p>
          <a:p>
            <a:br/>
            <a:pPr>
              <a:defRPr sz="1400">
                <a:solidFill>
                  <a:srgbClr val="F3F4F6"/>
                </a:solidFill>
              </a:defRPr>
            </a:pPr>
            <a:r>
              <a:t>• Build a clean, standalone personal portfolio website tailored for a Frontend Developer role.</a:t>
            </a:r>
          </a:p>
          <a:p>
            <a:br/>
            <a:pPr>
              <a:defRPr sz="1400">
                <a:solidFill>
                  <a:srgbClr val="F3F4F6"/>
                </a:solidFill>
              </a:defRPr>
            </a:pPr>
            <a:r>
              <a:t>• Include required sections: Home/Hero, About, Skills/Tools, Services, Projects, Achievements, Contact.</a:t>
            </a:r>
          </a:p>
          <a:p>
            <a:br/>
            <a:pPr>
              <a:defRPr sz="1400">
                <a:solidFill>
                  <a:srgbClr val="F3F4F6"/>
                </a:solidFill>
              </a:defRPr>
            </a:pPr>
            <a:r>
              <a:t>• Implement a validated contact form and full responsiveness across Desktop, Tablet, and Mobile.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217920" y="1645920"/>
            <a:ext cx="5242255" cy="4389120"/>
          </a:xfrm>
          <a:prstGeom prst="roundRect">
            <a:avLst/>
          </a:prstGeom>
          <a:solidFill>
            <a:srgbClr val="1C1432"/>
          </a:solidFill>
          <a:ln w="19050"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900" b="1">
                <a:solidFill>
                  <a:srgbClr val="38BDF8"/>
                </a:solidFill>
              </a:defRPr>
            </a:pPr>
            <a:r>
              <a:t>🔍 Evaluation Focus</a:t>
            </a:r>
          </a:p>
          <a:p>
            <a:br/>
            <a:pPr>
              <a:defRPr sz="1400">
                <a:solidFill>
                  <a:srgbClr val="F3F4F6"/>
                </a:solidFill>
              </a:defRPr>
            </a:pPr>
            <a:r>
              <a:t>• Frontend Fundamentals: Clean HTML5 semantic markup, modular CSS3 styling, and JavaScript logic.</a:t>
            </a:r>
          </a:p>
          <a:p>
            <a:br/>
            <a:pPr>
              <a:defRPr sz="1400">
                <a:solidFill>
                  <a:srgbClr val="F3F4F6"/>
                </a:solidFill>
              </a:defRPr>
            </a:pPr>
            <a:r>
              <a:t>• UI Clarity &amp; Aesthetics: Thoughtful typography, high-contrast visual hierarchy, glassmorphism design.</a:t>
            </a:r>
          </a:p>
          <a:p>
            <a:br/>
            <a:pPr>
              <a:defRPr sz="1400">
                <a:solidFill>
                  <a:srgbClr val="F3F4F6"/>
                </a:solidFill>
              </a:defRPr>
            </a:pPr>
            <a:r>
              <a:t>• Deployment Readiness: Well-structured GitHub repository ready for hosting and live evaluation.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0C1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0584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D8B4FE"/>
                </a:solidFill>
                <a:latin typeface="Arial"/>
              </a:defRPr>
            </a:pPr>
            <a:r>
              <a:t>DESIGN CHOICES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85800"/>
            <a:ext cx="10515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FFFFFF"/>
                </a:solidFill>
                <a:latin typeface="Arial"/>
              </a:defRPr>
            </a:pPr>
            <a:r>
              <a:t>Design Thinking &amp; UI/UX Aesthetics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645920"/>
            <a:ext cx="5120640" cy="2011680"/>
          </a:xfrm>
          <a:prstGeom prst="roundRect">
            <a:avLst/>
          </a:prstGeom>
          <a:solidFill>
            <a:srgbClr val="1C1432"/>
          </a:solidFill>
          <a:ln w="19050">
            <a:solidFill>
              <a:srgbClr val="D8B4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600" b="1">
                <a:solidFill>
                  <a:srgbClr val="D8B4FE"/>
                </a:solidFill>
              </a:defRPr>
            </a:pPr>
            <a:r>
              <a:t>🎨 Dark Purple Theme (#0B0813)</a:t>
            </a:r>
          </a:p>
          <a:p>
            <a:br/>
            <a:pPr>
              <a:defRPr sz="1300">
                <a:solidFill>
                  <a:srgbClr val="F3F4F6"/>
                </a:solidFill>
              </a:defRPr>
            </a:pPr>
            <a:r>
              <a:t>Tailored color palette with ambient glows (#A855F7 &amp; #6366F1) providing a modern, sleek developer aesthetic.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126480" y="1645920"/>
            <a:ext cx="5120640" cy="2011680"/>
          </a:xfrm>
          <a:prstGeom prst="roundRect">
            <a:avLst/>
          </a:prstGeom>
          <a:solidFill>
            <a:srgbClr val="1C1432"/>
          </a:solidFill>
          <a:ln w="19050"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600" b="1">
                <a:solidFill>
                  <a:srgbClr val="38BDF8"/>
                </a:solidFill>
              </a:defRPr>
            </a:pPr>
            <a:r>
              <a:t>✨ Glassmorphic UI Containers</a:t>
            </a:r>
          </a:p>
          <a:p>
            <a:br/>
            <a:pPr>
              <a:defRPr sz="1300">
                <a:solidFill>
                  <a:srgbClr val="F3F4F6"/>
                </a:solidFill>
              </a:defRPr>
            </a:pPr>
            <a:r>
              <a:t>Translucent card backgrounds (rgba(20, 14, 36, 0.65)) with subtle glowing borders for high visual depth.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3931920"/>
            <a:ext cx="5120640" cy="2011680"/>
          </a:xfrm>
          <a:prstGeom prst="roundRect">
            <a:avLst/>
          </a:prstGeom>
          <a:solidFill>
            <a:srgbClr val="1C1432"/>
          </a:solidFill>
          <a:ln w="19050">
            <a:solidFill>
              <a:srgbClr val="FACC1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600" b="1">
                <a:solidFill>
                  <a:srgbClr val="FACC15"/>
                </a:solidFill>
              </a:defRPr>
            </a:pPr>
            <a:r>
              <a:t>🔤 Crisp &amp; Clear Typography</a:t>
            </a:r>
          </a:p>
          <a:p>
            <a:br/>
            <a:pPr>
              <a:defRPr sz="1300">
                <a:solidFill>
                  <a:srgbClr val="F3F4F6"/>
                </a:solidFill>
              </a:defRPr>
            </a:pPr>
            <a:r>
              <a:t>Google Fonts 'Plus Jakarta Sans' for display headings paired with 'Inter' for high-contrast, ultra-legible text.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126480" y="3931920"/>
            <a:ext cx="5120640" cy="2011680"/>
          </a:xfrm>
          <a:prstGeom prst="roundRect">
            <a:avLst/>
          </a:prstGeom>
          <a:solidFill>
            <a:srgbClr val="1C1432"/>
          </a:solidFill>
          <a:ln w="19050">
            <a:solidFill>
              <a:srgbClr val="D8B4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600" b="1">
                <a:solidFill>
                  <a:srgbClr val="D8B4FE"/>
                </a:solidFill>
              </a:defRPr>
            </a:pPr>
            <a:r>
              <a:t>⚡ Micro-Interactions</a:t>
            </a:r>
          </a:p>
          <a:p>
            <a:br/>
            <a:pPr>
              <a:defRPr sz="1300">
                <a:solidFill>
                  <a:srgbClr val="F3F4F6"/>
                </a:solidFill>
              </a:defRPr>
            </a:pPr>
            <a:r>
              <a:t>Hover elevation, smooth button glows, scroll reveal animations, and pulsing status dots for user engagement.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0C1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0584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D8B4FE"/>
                </a:solidFill>
                <a:latin typeface="Arial"/>
              </a:defRPr>
            </a:pPr>
            <a:r>
              <a:t>PAGE STRUCTURE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85800"/>
            <a:ext cx="10515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FFFFFF"/>
                </a:solidFill>
                <a:latin typeface="Arial"/>
              </a:defRPr>
            </a:pPr>
            <a:r>
              <a:t>Modular Frontend Sections &amp; Page Architecture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645920"/>
            <a:ext cx="10728655" cy="777240"/>
          </a:xfrm>
          <a:prstGeom prst="roundRect">
            <a:avLst/>
          </a:prstGeom>
          <a:solidFill>
            <a:srgbClr val="1C1432"/>
          </a:solidFill>
          <a:ln>
            <a:solidFill>
              <a:srgbClr val="FACC1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500" b="1">
                <a:solidFill>
                  <a:srgbClr val="FACC15"/>
                </a:solidFill>
              </a:defRPr>
            </a:pPr>
            <a:r>
              <a:t>1. Home / Hero</a:t>
            </a:r>
          </a:p>
          <a:p>
            <a:pPr>
              <a:defRPr sz="1200">
                <a:solidFill>
                  <a:srgbClr val="F3F4F6"/>
                </a:solidFill>
              </a:defRPr>
            </a:pPr>
            <a:r>
              <a:t>Introduction tag, name headline, role subtitle, quote, CTAs, portrait photo frame, and education line.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2560320"/>
            <a:ext cx="10728655" cy="777240"/>
          </a:xfrm>
          <a:prstGeom prst="roundRect">
            <a:avLst/>
          </a:prstGeom>
          <a:solidFill>
            <a:srgbClr val="1C1432"/>
          </a:solidFill>
          <a:ln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500" b="1">
                <a:solidFill>
                  <a:srgbClr val="38BDF8"/>
                </a:solidFill>
              </a:defRPr>
            </a:pPr>
            <a:r>
              <a:t>2. About Me</a:t>
            </a:r>
          </a:p>
          <a:p>
            <a:pPr>
              <a:defRPr sz="1200">
                <a:solidFill>
                  <a:srgbClr val="F3F4F6"/>
                </a:solidFill>
              </a:defRPr>
            </a:pPr>
            <a:r>
              <a:t>Academic background, CTAE Udaipur, B.Tech AI &amp; Data Science, NCC cadet discipline, and hackathon highlights.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3474720"/>
            <a:ext cx="10728655" cy="777240"/>
          </a:xfrm>
          <a:prstGeom prst="roundRect">
            <a:avLst/>
          </a:prstGeom>
          <a:solidFill>
            <a:srgbClr val="1C1432"/>
          </a:solidFill>
          <a:ln>
            <a:solidFill>
              <a:srgbClr val="D8B4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500" b="1">
                <a:solidFill>
                  <a:srgbClr val="D8B4FE"/>
                </a:solidFill>
              </a:defRPr>
            </a:pPr>
            <a:r>
              <a:t>3. Skills / Toolkit</a:t>
            </a:r>
          </a:p>
          <a:p>
            <a:pPr>
              <a:defRPr sz="1200">
                <a:solidFill>
                  <a:srgbClr val="F3F4F6"/>
                </a:solidFill>
              </a:defRPr>
            </a:pPr>
            <a:r>
              <a:t>Categorized grid covering Frontend (HTML/CSS/JS), Programming (Python/C++), Database (SQL), Tools (Git/GitHub).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4389120"/>
            <a:ext cx="10728655" cy="777240"/>
          </a:xfrm>
          <a:prstGeom prst="roundRect">
            <a:avLst/>
          </a:prstGeom>
          <a:solidFill>
            <a:srgbClr val="1C1432"/>
          </a:solidFill>
          <a:ln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500" b="1">
                <a:solidFill>
                  <a:srgbClr val="38BDF8"/>
                </a:solidFill>
              </a:defRPr>
            </a:pPr>
            <a:r>
              <a:t>4. Services &amp; Projects</a:t>
            </a:r>
          </a:p>
          <a:p>
            <a:pPr>
              <a:defRPr sz="1200">
                <a:solidFill>
                  <a:srgbClr val="F3F4F6"/>
                </a:solidFill>
              </a:defRPr>
            </a:pPr>
            <a:r>
              <a:t>Clear service cards and featured student developer projects with tech tags.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5303520"/>
            <a:ext cx="10728655" cy="777240"/>
          </a:xfrm>
          <a:prstGeom prst="roundRect">
            <a:avLst/>
          </a:prstGeom>
          <a:solidFill>
            <a:srgbClr val="1C1432"/>
          </a:solidFill>
          <a:ln>
            <a:solidFill>
              <a:srgbClr val="FACC1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500" b="1">
                <a:solidFill>
                  <a:srgbClr val="FACC15"/>
                </a:solidFill>
              </a:defRPr>
            </a:pPr>
            <a:r>
              <a:t>5. Contact Form</a:t>
            </a:r>
          </a:p>
          <a:p>
            <a:pPr>
              <a:defRPr sz="1200">
                <a:solidFill>
                  <a:srgbClr val="F3F4F6"/>
                </a:solidFill>
              </a:defRPr>
            </a:pPr>
            <a:r>
              <a:t>Validated contact form with name, email, subject, message fields and email/LinkedIn direct links.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0C1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0584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D8B4FE"/>
                </a:solidFill>
                <a:latin typeface="Arial"/>
              </a:defRPr>
            </a:pPr>
            <a:r>
              <a:t>TECH STACK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85800"/>
            <a:ext cx="10515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FFFFFF"/>
                </a:solidFill>
                <a:latin typeface="Arial"/>
              </a:defRPr>
            </a:pPr>
            <a:r>
              <a:t>Technical Implementation &amp; Code Architecture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645920"/>
            <a:ext cx="10728655" cy="1234440"/>
          </a:xfrm>
          <a:prstGeom prst="roundRect">
            <a:avLst/>
          </a:prstGeom>
          <a:solidFill>
            <a:srgbClr val="1C1432"/>
          </a:solidFill>
          <a:ln w="19050">
            <a:solidFill>
              <a:srgbClr val="D8B4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600" b="1">
                <a:solidFill>
                  <a:srgbClr val="D8B4FE"/>
                </a:solidFill>
              </a:defRPr>
            </a:pPr>
            <a:r>
              <a:t>HTML5 Semantic Structure (portfolio.html)</a:t>
            </a:r>
          </a:p>
          <a:p>
            <a:pPr>
              <a:defRPr sz="1300">
                <a:solidFill>
                  <a:srgbClr val="F3F4F6"/>
                </a:solidFill>
              </a:defRPr>
            </a:pPr>
            <a:r>
              <a:t>Structured using clean HTML5 tags (&lt;header&gt;, &lt;nav&gt;, &lt;main&gt;, &lt;section&gt;, &lt;footer&gt;) for optimal document outline, accessibility, and SEO readiness.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3108960"/>
            <a:ext cx="10728655" cy="1234440"/>
          </a:xfrm>
          <a:prstGeom prst="roundRect">
            <a:avLst/>
          </a:prstGeom>
          <a:solidFill>
            <a:srgbClr val="1C1432"/>
          </a:solidFill>
          <a:ln w="19050"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600" b="1">
                <a:solidFill>
                  <a:srgbClr val="38BDF8"/>
                </a:solidFill>
              </a:defRPr>
            </a:pPr>
            <a:r>
              <a:t>CSS3 Layouts &amp; Tokens (styles.css)</a:t>
            </a:r>
          </a:p>
          <a:p>
            <a:pPr>
              <a:defRPr sz="1300">
                <a:solidFill>
                  <a:srgbClr val="F3F4F6"/>
                </a:solidFill>
              </a:defRPr>
            </a:pPr>
            <a:r>
              <a:t>Built with CSS Variables for consistent theming, Flexbox for alignment, CSS Grid for responsive section layouts, and glassmorphic card styles.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4572000"/>
            <a:ext cx="10728655" cy="1234440"/>
          </a:xfrm>
          <a:prstGeom prst="roundRect">
            <a:avLst/>
          </a:prstGeom>
          <a:solidFill>
            <a:srgbClr val="1C1432"/>
          </a:solidFill>
          <a:ln w="19050">
            <a:solidFill>
              <a:srgbClr val="FACC1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600" b="1">
                <a:solidFill>
                  <a:srgbClr val="FACC15"/>
                </a:solidFill>
              </a:defRPr>
            </a:pPr>
            <a:r>
              <a:t>Vanilla JavaScript Logic (script.js)</a:t>
            </a:r>
          </a:p>
          <a:p>
            <a:pPr>
              <a:defRPr sz="1300">
                <a:solidFill>
                  <a:srgbClr val="F3F4F6"/>
                </a:solidFill>
              </a:defRPr>
            </a:pPr>
            <a:r>
              <a:t>Powers dynamic behaviors including sticky navbar blur, IntersectionObserver active link highlighting, scroll reveal, mobile drawer toggle, and form validation.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0C1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0584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D8B4FE"/>
                </a:solidFill>
                <a:latin typeface="Arial"/>
              </a:defRPr>
            </a:pPr>
            <a:r>
              <a:t>MOBILE-FIRST RESPONSIVENESS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85800"/>
            <a:ext cx="10515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FFFFFF"/>
                </a:solidFill>
                <a:latin typeface="Arial"/>
              </a:defRPr>
            </a:pPr>
            <a:r>
              <a:t>Responsiveness Strategy &amp; Media Queries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645920"/>
            <a:ext cx="5120640" cy="4389120"/>
          </a:xfrm>
          <a:prstGeom prst="roundRect">
            <a:avLst/>
          </a:prstGeom>
          <a:solidFill>
            <a:srgbClr val="1C1432"/>
          </a:solidFill>
          <a:ln w="19050"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900" b="1">
                <a:solidFill>
                  <a:srgbClr val="38BDF8"/>
                </a:solidFill>
              </a:defRPr>
            </a:pPr>
            <a:r>
              <a:t>📱 Mobile-First Adaptation</a:t>
            </a:r>
          </a:p>
          <a:p>
            <a:br/>
            <a:pPr>
              <a:defRPr sz="1400">
                <a:solidFill>
                  <a:srgbClr val="F3F4F6"/>
                </a:solidFill>
              </a:defRPr>
            </a:pPr>
            <a:r>
              <a:t>• Mobile Drawer Navigation: Hamburger menu icon toggles a fixed right-side drawer menu on mobile screens (&lt;768px).</a:t>
            </a:r>
          </a:p>
          <a:p>
            <a:br/>
            <a:pPr>
              <a:defRPr sz="1400">
                <a:solidFill>
                  <a:srgbClr val="F3F4F6"/>
                </a:solidFill>
              </a:defRPr>
            </a:pPr>
            <a:r>
              <a:t>• Touch-Friendly Targets: All nav items, buttons, and form inputs meet touch accessibility guidelines.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217920" y="1645920"/>
            <a:ext cx="5242255" cy="4389120"/>
          </a:xfrm>
          <a:prstGeom prst="roundRect">
            <a:avLst/>
          </a:prstGeom>
          <a:solidFill>
            <a:srgbClr val="1C1432"/>
          </a:solidFill>
          <a:ln w="19050">
            <a:solidFill>
              <a:srgbClr val="FACC1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900" b="1">
                <a:solidFill>
                  <a:srgbClr val="FACC15"/>
                </a:solidFill>
              </a:defRPr>
            </a:pPr>
            <a:r>
              <a:t>🖥️ Fluid Desktop &amp; Tablet Breakpoints</a:t>
            </a:r>
          </a:p>
          <a:p>
            <a:br/>
            <a:pPr>
              <a:defRPr sz="1400">
                <a:solidFill>
                  <a:srgbClr val="F3F4F6"/>
                </a:solidFill>
              </a:defRPr>
            </a:pPr>
            <a:r>
              <a:t>• Desktop (1024px+): Multi-column CSS Grid layouts for hero split, about highlights, skills, and contact form.</a:t>
            </a:r>
          </a:p>
          <a:p>
            <a:br/>
            <a:pPr>
              <a:defRPr sz="1400">
                <a:solidFill>
                  <a:srgbClr val="F3F4F6"/>
                </a:solidFill>
              </a:defRPr>
            </a:pPr>
            <a:r>
              <a:t>• Tablet (768px - 992px): Smooth single-column stacking ensuring no horizontal scrollbars or overflow issues.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0C1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0584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D8B4FE"/>
                </a:solidFill>
                <a:latin typeface="Arial"/>
              </a:defRPr>
            </a:pPr>
            <a:r>
              <a:t>FORM INTERACTION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85800"/>
            <a:ext cx="10515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FFFFFF"/>
                </a:solidFill>
                <a:latin typeface="Arial"/>
              </a:defRPr>
            </a:pPr>
            <a:r>
              <a:t>Contact Form Validation Logic &amp; Feedback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645920"/>
            <a:ext cx="10728655" cy="4389120"/>
          </a:xfrm>
          <a:prstGeom prst="roundRect">
            <a:avLst/>
          </a:prstGeom>
          <a:solidFill>
            <a:srgbClr val="1C1432"/>
          </a:solidFill>
          <a:ln w="19050">
            <a:solidFill>
              <a:srgbClr val="D8B4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900" b="1">
                <a:solidFill>
                  <a:srgbClr val="D8B4FE"/>
                </a:solidFill>
              </a:defRPr>
            </a:pPr>
            <a:r>
              <a:t>Key Client-Side Validation Rules</a:t>
            </a:r>
          </a:p>
          <a:p>
            <a:br/>
            <a:pPr>
              <a:defRPr sz="1400">
                <a:solidFill>
                  <a:srgbClr val="F3F4F6"/>
                </a:solidFill>
              </a:defRPr>
            </a:pPr>
            <a:r>
              <a:t>1. Field Presence Check: Verifies Name, Email, Subject, and Message inputs are completed prior to submission.</a:t>
            </a:r>
          </a:p>
          <a:p>
            <a:br/>
            <a:pPr>
              <a:defRPr sz="1400">
                <a:solidFill>
                  <a:srgbClr val="F3F4F6"/>
                </a:solidFill>
              </a:defRPr>
            </a:pPr>
            <a:r>
              <a:t>2. Email Format Verification: Uses Regex pattern (/^[^\s@]+@[^\s@]+\.[^\s@]+$/) to ensure valid email addresses.</a:t>
            </a:r>
          </a:p>
          <a:p>
            <a:br/>
            <a:pPr>
              <a:defRPr sz="1400">
                <a:solidFill>
                  <a:srgbClr val="F3F4F6"/>
                </a:solidFill>
              </a:defRPr>
            </a:pPr>
            <a:r>
              <a:t>3. User Feedback States: Displays green success toast alert or red error notification with dynamic button spinners.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0C1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0584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D8B4FE"/>
                </a:solidFill>
                <a:latin typeface="Arial"/>
              </a:defRPr>
            </a:pPr>
            <a:r>
              <a:t>FINAL SUMMARY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85800"/>
            <a:ext cx="10515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FFFFFF"/>
                </a:solidFill>
                <a:latin typeface="Arial"/>
              </a:defRPr>
            </a:pPr>
            <a:r>
              <a:t>Repository Structure &amp; Submission Readiness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1371600" y="1645920"/>
            <a:ext cx="9448495" cy="4389120"/>
          </a:xfrm>
          <a:prstGeom prst="roundRect">
            <a:avLst/>
          </a:prstGeom>
          <a:solidFill>
            <a:srgbClr val="1C1432"/>
          </a:solidFill>
          <a:ln w="19050">
            <a:solidFill>
              <a:srgbClr val="FACC1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2200" b="1">
                <a:solidFill>
                  <a:srgbClr val="FFFFFF"/>
                </a:solidFill>
              </a:defRPr>
            </a:pPr>
            <a:r>
              <a:t>GitHub Repository Structure</a:t>
            </a:r>
          </a:p>
          <a:p>
            <a:br/>
            <a:pPr algn="ctr">
              <a:defRPr sz="1600" b="1">
                <a:solidFill>
                  <a:srgbClr val="FACC15"/>
                </a:solidFill>
              </a:defRPr>
            </a:pPr>
            <a:r>
              <a:t>📁 portfolio.html  |  🎨 styles.css  |  ⚡ script.js  |  📝 README.md  |  🚫 .gitignore</a:t>
            </a:r>
            <a:br/>
          </a:p>
          <a:p>
            <a:pPr algn="ctr">
              <a:defRPr sz="1500" b="1">
                <a:solidFill>
                  <a:srgbClr val="38BDF8"/>
                </a:solidFill>
              </a:defRPr>
            </a:pPr>
            <a:r>
              <a:t>Ready for live deployment via GitHub Pages / Vercel.</a:t>
            </a:r>
          </a:p>
          <a:p>
            <a:br/>
            <a:pPr algn="ctr">
              <a:defRPr sz="1300">
                <a:solidFill>
                  <a:srgbClr val="D8B4FE"/>
                </a:solidFill>
              </a:defRPr>
            </a:pPr>
            <a:r>
              <a:t>Developer: Harshita Bhatia (CTAE Udaipur)  ·  ShadowFox Internship Submission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